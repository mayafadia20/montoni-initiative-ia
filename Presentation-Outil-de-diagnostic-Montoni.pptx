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0.xml" ContentType="application/vnd.openxmlformats-officedocument.presentationml.notes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customXml" Target="../customXml/item1.xml"/><Relationship Id="rId21" Type="http://schemas.openxmlformats.org/officeDocument/2006/relationships/slide" Target="slides/slide14.xml"/><Relationship Id="rId34" Type="http://schemas.openxmlformats.org/officeDocument/2006/relationships/slide" Target="slides/slide27.xml"/><Relationship Id="rId7" Type="http://schemas.openxmlformats.org/officeDocument/2006/relationships/slide" Target="slides/slide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customXml" Target="../customXml/item2.xml"/><Relationship Id="rId5" Type="http://schemas.openxmlformats.org/officeDocument/2006/relationships/theme" Target="theme/theme1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viewProps" Target="viewProps.xml"/><Relationship Id="rId9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Introduction</a:t>
            </a:r>
          </a:p>
          <a:p>
            <a:r>
              <a:t>30 entrevues, 14 départements, toutes les découvertes centralisées dans l'outil.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Bienvenue</a:t>
            </a:r>
          </a:p>
          <a:p>
            <a:r>
              <a:t>Page d'accueil de l'outil de diagnostic MONTONI.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Connexion</a:t>
            </a:r>
          </a:p>
          <a:p>
            <a:r>
              <a:t>Accès réservé : nom d'utilisateur et mot de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Entrevues préliminaires</a:t>
            </a:r>
          </a:p>
          <a:p>
            <a:r>
              <a:t>Les entrevues préliminaires ont permis d'avoir une vue d'ensemble des processus de l'entreprise afin d'identifier :</a:t>
            </a:r>
          </a:p>
          <a:p>
            <a:r>
              <a:t>• Les étapes — de chaque processus</a:t>
            </a:r>
          </a:p>
          <a:p>
            <a:r>
              <a:t>• Les documents — intrants et extrants</a:t>
            </a:r>
          </a:p>
          <a:p>
            <a:r>
              <a:t>• Les systèmes — utilisés</a:t>
            </a:r>
          </a:p>
          <a:p>
            <a:r>
              <a:t>• Les personnes — impliquées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Objectifs et indicateurs</a:t>
            </a:r>
          </a:p>
          <a:p>
            <a:r>
              <a:t>À partir des entrevues retranscrites, des hypothèses d'objectifs départementaux ont été établies et des indicateurs de performance identifiés, avec des hypothèses de cible chiffrée.</a:t>
            </a:r>
          </a:p>
          <a:p>
            <a:r>
              <a:t>• Hypothèses d'objectifs — par département</a:t>
            </a:r>
          </a:p>
          <a:p>
            <a:r>
              <a:t>• Indicateurs de performance — identifiés en entrevue</a:t>
            </a:r>
          </a:p>
          <a:p>
            <a:r>
              <a:t>• Hypothèses de cible — chiffrées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Processus</a:t>
            </a:r>
          </a:p>
          <a:p>
            <a:r>
              <a:t>Les différentes étapes de ces processus ont été cartographiées par département, et les ressources humaines ainsi que les systèmes utilisés ont été identifiés.</a:t>
            </a:r>
          </a:p>
          <a:p>
            <a:r>
              <a:t>• Les étapes — cartographiées par département</a:t>
            </a:r>
          </a:p>
          <a:p>
            <a:r>
              <a:t>• Les ressources humaines — identifiées</a:t>
            </a:r>
          </a:p>
          <a:p>
            <a:r>
              <a:t>• Les systèmes — utilisés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Capacité des ressources</a:t>
            </a:r>
          </a:p>
          <a:p>
            <a:r>
              <a:t>Les processus ont permis d'identifier la charge de travail des ressources humaines, basée sur le nombre d'étapes où chaque personne est impliquée.</a:t>
            </a:r>
          </a:p>
          <a:p>
            <a:r>
              <a:t>• La charge de travail — par personne</a:t>
            </a:r>
          </a:p>
          <a:p>
            <a:r>
              <a:t>• Le nombre d'étapes — où la personne intervient</a:t>
            </a:r>
          </a:p>
          <a:p>
            <a:r>
              <a:t>• La taille des bulles — proportionnelle à cette charge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Systèmes</a:t>
            </a:r>
          </a:p>
          <a:p>
            <a:r>
              <a:t>Ces processus ont également permis d'identifier la liste des systèmes utilisés par l'entreprise. Plus la bulle est grande, plus le système est utilisé.</a:t>
            </a:r>
          </a:p>
          <a:p>
            <a:r>
              <a:t>• Les systèmes — utilisés par l'entreprise</a:t>
            </a:r>
          </a:p>
          <a:p>
            <a:r>
              <a:t>• La taille des bulles — proportionnelle à l'utilisation</a:t>
            </a:r>
          </a:p>
          <a:p>
            <a:r>
              <a:t>• Les lignes — données échangées entre systèmes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du mandat</a:t>
            </a:r>
          </a:p>
          <a:p>
            <a:r>
              <a:t>Accroître la performance opérationnelle et optimiser les coûts des systèmes  La stratégie ?</a:t>
            </a:r>
          </a:p>
          <a:p>
            <a:r>
              <a:t>• Efficacité globale — de l'entreprise</a:t>
            </a:r>
          </a:p>
          <a:p>
            <a:r>
              <a:t>• Coûts opérationnels — à optimiser</a:t>
            </a:r>
          </a:p>
          <a:p>
            <a:r>
              <a:t>• Coûts des systèmes — à optimiser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1</a:t>
            </a:r>
          </a:p>
          <a:p>
            <a:r>
              <a:t>Identifier les objectifs et indicateurs de performance globaux de l'entreprise.</a:t>
            </a:r>
          </a:p>
          <a:p>
            <a:r>
              <a:t>• Les objectifs globaux — de l'entreprise</a:t>
            </a:r>
          </a:p>
          <a:p>
            <a:r>
              <a:t>• Les indicateurs de performance — qui les mesurent</a:t>
            </a:r>
          </a:p>
          <a:p>
            <a:r>
              <a:t>• Cible, réel et écart — par département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2</a:t>
            </a:r>
          </a:p>
          <a:p>
            <a:r>
              <a:t>Identifier les objectifs départementaux reliés à ces objectifs globaux.</a:t>
            </a:r>
          </a:p>
          <a:p>
            <a:r>
              <a:t>• Les objectifs départementaux — par département</a:t>
            </a:r>
          </a:p>
          <a:p>
            <a:r>
              <a:t>• Le lien avec l'objectif global — qu'ils servent</a:t>
            </a:r>
          </a:p>
          <a:p>
            <a:r>
              <a:t>• Cible, écart et réel — pour chaque indicateur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3</a:t>
            </a:r>
          </a:p>
          <a:p>
            <a:r>
              <a:t>Confirmer la donnée cible attendue pour chaque objectif.</a:t>
            </a:r>
          </a:p>
          <a:p>
            <a:r>
              <a:t>• La cible attendue — pour chaque indicateur</a:t>
            </a:r>
          </a:p>
          <a:p>
            <a:r>
              <a:t>• À confirmer — avec chaque département</a:t>
            </a:r>
          </a:p>
          <a:p>
            <a:r>
              <a:t>• La donnée réelle — pour mesurer l'écart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Objectif 4</a:t>
            </a:r>
          </a:p>
          <a:p>
            <a:r>
              <a:t>Recueillir des données réelles sur les opérations actuelles.</a:t>
            </a:r>
          </a:p>
          <a:p>
            <a:r>
              <a:t>• La donnée réelle — observée aujourd'hui</a:t>
            </a:r>
          </a:p>
          <a:p>
            <a:r>
              <a:t>• Recueillie sur le terrain — dans les opérations</a:t>
            </a:r>
          </a:p>
          <a:p>
            <a:r>
              <a:t>• Comparée à la cible — pour mesurer l'écart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Comment recueillir les données réelles efficacement ?</a:t>
            </a:r>
          </a:p>
          <a:p>
            <a:r>
              <a:t>Comment recueillir les données réelles efficacement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Collecte des données réelles</a:t>
            </a:r>
          </a:p>
          <a:p>
            <a:r>
              <a:t>Les processus étant déjà cartographiés, nous évaluerons avec les exécutants, pour chaque étape :</a:t>
            </a:r>
          </a:p>
          <a:p>
            <a:r>
              <a:t>• Les temps de cycle — traitement et attentes</a:t>
            </a:r>
          </a:p>
          <a:p>
            <a:r>
              <a:t>• Les volumes gérés — intrants et extrants</a:t>
            </a:r>
          </a:p>
          <a:p>
            <a:r>
              <a:t>• L'automatisation — % par système</a:t>
            </a:r>
          </a:p>
          <a:p>
            <a:r>
              <a:t>• Les dépendances — entre départements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Goulots d'étranglement</a:t>
            </a:r>
          </a:p>
          <a:p>
            <a:r>
              <a:t>Les données recueillies permettront d'identifier les différents goulots d'étranglement de chaque processus.</a:t>
            </a:r>
          </a:p>
          <a:p>
            <a:r>
              <a:t>• Identifiés par les données — temps, volumes et écarts</a:t>
            </a:r>
          </a:p>
          <a:p>
            <a:r>
              <a:t>• Un goulot — par point de blocage observé</a:t>
            </a:r>
          </a:p>
          <a:p>
            <a:r>
              <a:t>• Rattachés aux étapes — du processus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 des goulots</a:t>
            </a:r>
          </a:p>
          <a:p>
            <a:r>
              <a:t>Basé sur les bonnes pratiques du génie industriel, chaque goulot d'étranglement aura une analyse des cinq pourquoi et un diagramme d'Ishikawa, qui relient les causes à l'origine du goulot.</a:t>
            </a:r>
          </a:p>
          <a:p>
            <a:r>
              <a:t>• Les cinq pourquoi — jusqu'à la cause racine</a:t>
            </a:r>
          </a:p>
          <a:p>
            <a:r>
              <a:t>• Le diagramme d'Ishikawa — les causes par famille</a:t>
            </a:r>
          </a:p>
          <a:p>
            <a:r>
              <a:t>• Pour chaque goulot — bonnes pratiques du génie industriel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Diagramme d'Ishikawa</a:t>
            </a:r>
          </a:p>
          <a:p>
            <a:r>
              <a:t>Le diagramme d'Ishikawa classe les causes du goulot par famille : méthode, main-d'œuvre, machine, matière, milieu et mesure.</a:t>
            </a:r>
          </a:p>
          <a:p>
            <a:r>
              <a:t>• Six familles de causes — les 6M du génie industriel</a:t>
            </a:r>
          </a:p>
          <a:p>
            <a:r>
              <a:t>• Un effet — le goulot d'étranglement</a:t>
            </a:r>
          </a:p>
          <a:p>
            <a:r>
              <a:t>• Des causes documentées — tirées des entrevues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Analyse des cinq pourquoi</a:t>
            </a:r>
          </a:p>
          <a:p>
            <a:r>
              <a:t>L'analyse des cinq pourquoi remonte de cause en cause, du problème observé jusqu'à la cause racine du goulot.</a:t>
            </a:r>
          </a:p>
          <a:p>
            <a:r>
              <a:t>• Le problème — tel qu'observé</a:t>
            </a:r>
          </a:p>
          <a:p>
            <a:r>
              <a:t>• Cinq pourquoi successifs — chaque réponse est questionnée</a:t>
            </a:r>
          </a:p>
          <a:p>
            <a:r>
              <a:t>• La cause racine — à traiter en priorité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Projets d'amélioration continue</a:t>
            </a:r>
          </a:p>
          <a:p>
            <a:r>
              <a:t>En fonction des causes identifiées pour chaque goulot d'étranglement, nous pourrons classifier sa piste d'amélioration. Voici les différentes catégories :</a:t>
            </a:r>
          </a:p>
          <a:p>
            <a:r>
              <a:t>• Chaque goulot — classé selon ses causes</a:t>
            </a:r>
          </a:p>
          <a:p>
            <a:r>
              <a:t>• Neuf catégories de piste — une ou deux par goulot</a:t>
            </a:r>
          </a:p>
          <a:p>
            <a:r>
              <a:t>• Un projet par piste — à planifier et suivre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1 de 9</a:t>
            </a:r>
          </a:p>
          <a:p>
            <a:r>
              <a:t>Élimination des activités à valeur non ajoutée : retirer les tâches qui n'apportent rien au client ni au processus.</a:t>
            </a:r>
          </a:p>
          <a:p>
            <a:r>
              <a:t>• Élimination des activités à valeur non ajoutée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2 de 9</a:t>
            </a:r>
          </a:p>
          <a:p>
            <a:r>
              <a:t>Simplification de processus : réduire le nombre d'étapes, d'allers-retours et d'approbations.</a:t>
            </a:r>
          </a:p>
          <a:p>
            <a:r>
              <a:t>• Simplification de processus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3 de 9</a:t>
            </a:r>
          </a:p>
          <a:p>
            <a:r>
              <a:t>Standardisation des nomenclatures et gabarits : adopter des gabarits, des codifications et des nomenclatures communes.</a:t>
            </a:r>
          </a:p>
          <a:p>
            <a:r>
              <a:t>• Standardisation des nomenclatures et gabarits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4 de 9</a:t>
            </a:r>
          </a:p>
          <a:p>
            <a:r>
              <a:t>Clarification des responsabilités : préciser qui décide, qui exécute et qui valide à chaque étape.</a:t>
            </a:r>
          </a:p>
          <a:p>
            <a:r>
              <a:t>• Clarification des responsabilités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5 de 9</a:t>
            </a:r>
          </a:p>
          <a:p>
            <a:r>
              <a:t>Gestion de la capacité : dimensionner les ressources et lisser la charge de travail.</a:t>
            </a:r>
          </a:p>
          <a:p>
            <a:r>
              <a:t>• Gestion de la capacité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6 de 9</a:t>
            </a:r>
          </a:p>
          <a:p>
            <a:r>
              <a:t>Amélioration de la disponibilité des données : rendre l'information fiable, centralisée et accessible à ceux qui en ont besoin.</a:t>
            </a:r>
          </a:p>
          <a:p>
            <a:r>
              <a:t>• Amélioration de la disponibilité des données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7 de 9</a:t>
            </a:r>
          </a:p>
          <a:p>
            <a:r>
              <a:t>Intégration de systèmes : faire communiquer les systèmes pour éliminer les ressaisies.</a:t>
            </a:r>
          </a:p>
          <a:p>
            <a:r>
              <a:t>• Intégration de systèmes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8 de 9</a:t>
            </a:r>
          </a:p>
          <a:p>
            <a:r>
              <a:t>Automatisation : confier aux systèmes les tâches répétitives et les relances.</a:t>
            </a:r>
          </a:p>
          <a:p>
            <a:r>
              <a:t>• Automatisation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Catégorie 9 de 9</a:t>
            </a:r>
          </a:p>
          <a:p>
            <a:r>
              <a:t>Intégration d'intelligence artificielle : utiliser l'intelligence artificielle pour lire, synthétiser et proposer.</a:t>
            </a:r>
          </a:p>
          <a:p>
            <a:r>
              <a:t>• Intégration d'intelligence artificielle — catégorie de piste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Priorisation des mandats</a:t>
            </a:r>
          </a:p>
          <a:p>
            <a:r>
              <a:t>En fonction des objectifs globaux, nous pouvons établir la priorisation des mandats d'amélioration pour accélérer la performance opérationnelle.</a:t>
            </a:r>
          </a:p>
          <a:p>
            <a:r>
              <a:t>• Les objectifs globaux — guident la priorité</a:t>
            </a:r>
          </a:p>
          <a:p>
            <a:r>
              <a:t>• Un mandat — regroupe plusieurs goulots</a:t>
            </a:r>
          </a:p>
          <a:p>
            <a:r>
              <a:t>• Un calendrier — pour accélérer la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190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FEEE1"/>
                </a:solidFill>
                <a:latin typeface="Arial"/>
              </a:rPr>
              <a:t>OUTIL DE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800" b="1">
                <a:solidFill>
                  <a:srgbClr val="EFEEE1"/>
                </a:solidFill>
                <a:latin typeface="Georgia"/>
              </a:rPr>
              <a:t>MONTONI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FEEE1"/>
                </a:solidFill>
                <a:latin typeface="Arial"/>
              </a:rPr>
              <a:t>Parcours de démonstration · Initiative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FEEE1"/>
                </a:solidFill>
                <a:latin typeface="Arial"/>
              </a:rPr>
              <a:t>30 entrevues · 14 départements · avril à 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0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1-bien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2-connex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3-demo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4-demo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-demo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6-demo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7-demo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8-demo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9-demo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0-demo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1-demo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2-demo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3-demo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4-demo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5-demo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6-demo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7-demo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8-demo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19-demo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-demo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1-demo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2-demo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3-demo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4-demo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5-demo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6-demo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7-demo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8-demo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9-demo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Arial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D5B48154275A41A1C5F24A8750291D" ma:contentTypeVersion="17" ma:contentTypeDescription="Crée un document." ma:contentTypeScope="" ma:versionID="757db0270a6d9b0bd7cf68defb6edc12">
  <xsd:schema xmlns:xsd="http://www.w3.org/2001/XMLSchema" xmlns:xs="http://www.w3.org/2001/XMLSchema" xmlns:p="http://schemas.microsoft.com/office/2006/metadata/properties" xmlns:ns2="1d3431a4-4056-4193-bdfa-454f391b1cd6" xmlns:ns3="7427f84f-b661-41b8-aa01-2a61d0c90dc8" targetNamespace="http://schemas.microsoft.com/office/2006/metadata/properties" ma:root="true" ma:fieldsID="e2e7036931d69344698e77545c323abf" ns2:_="" ns3:_="">
    <xsd:import namespace="1d3431a4-4056-4193-bdfa-454f391b1cd6"/>
    <xsd:import namespace="7427f84f-b661-41b8-aa01-2a61d0c90d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3431a4-4056-4193-bdfa-454f391b1c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7dcc7553-f883-4057-99c9-00f375c0a0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27f84f-b661-41b8-aa01-2a61d0c90dc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77674936-c928-4fbb-b4b3-d33c5cfec06c}" ma:internalName="TaxCatchAll" ma:showField="CatchAllData" ma:web="7427f84f-b661-41b8-aa01-2a61d0c90d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427f84f-b661-41b8-aa01-2a61d0c90dc8" xsi:nil="true"/>
    <lcf76f155ced4ddcb4097134ff3c332f xmlns="1d3431a4-4056-4193-bdfa-454f391b1cd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16DE33E-3AD7-4DB1-BF8C-758B8C9F9958}"/>
</file>

<file path=customXml/itemProps2.xml><?xml version="1.0" encoding="utf-8"?>
<ds:datastoreItem xmlns:ds="http://schemas.openxmlformats.org/officeDocument/2006/customXml" ds:itemID="{FC10009C-9E82-44D8-AFCE-A06E356CA377}"/>
</file>

<file path=customXml/itemProps3.xml><?xml version="1.0" encoding="utf-8"?>
<ds:datastoreItem xmlns:ds="http://schemas.openxmlformats.org/officeDocument/2006/customXml" ds:itemID="{B9CDD298-926F-4134-98F9-4B6B4DDBDCBA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0x010100C7D5B48154275A41A1C5F24A8750291D</vt:lpwstr>
  </property>
</Properties>
</file>